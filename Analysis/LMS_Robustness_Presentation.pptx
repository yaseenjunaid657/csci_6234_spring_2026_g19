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90"/>
  </p:normalViewPr>
  <p:slideViewPr>
    <p:cSldViewPr snapToGrid="0" snapToObjects="1">
      <p:cViewPr varScale="1">
        <p:scale>
          <a:sx n="111" d="100"/>
          <a:sy n="111" d="100"/>
        </p:scale>
        <p:origin x="160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ithub.com/yaseenjunaid657/CSCI_6234_Spring_2026_G19" TargetMode="External"/><Relationship Id="rId1" Type="http://schemas.openxmlformats.org/officeDocument/2006/relationships/slideLayout" Target="../slideLayouts/slideLayout2.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348" y="551962"/>
            <a:ext cx="8249304"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143000" y="1293338"/>
            <a:ext cx="6858000" cy="3274592"/>
          </a:xfrm>
        </p:spPr>
        <p:txBody>
          <a:bodyPr anchor="ctr">
            <a:normAutofit/>
          </a:bodyPr>
          <a:lstStyle/>
          <a:p>
            <a:r>
              <a:rPr lang="en-US" sz="6300"/>
              <a:t>Learning Management System</a:t>
            </a:r>
          </a:p>
        </p:txBody>
      </p:sp>
      <p:sp>
        <p:nvSpPr>
          <p:cNvPr id="3" name="Subtitle 2"/>
          <p:cNvSpPr>
            <a:spLocks noGrp="1"/>
          </p:cNvSpPr>
          <p:nvPr>
            <p:ph type="subTitle" idx="1"/>
          </p:nvPr>
        </p:nvSpPr>
        <p:spPr>
          <a:xfrm>
            <a:off x="1143000" y="5514052"/>
            <a:ext cx="6858000" cy="651910"/>
          </a:xfrm>
        </p:spPr>
        <p:txBody>
          <a:bodyPr anchor="ctr">
            <a:normAutofit lnSpcReduction="10000"/>
          </a:bodyPr>
          <a:lstStyle/>
          <a:p>
            <a:pPr>
              <a:lnSpc>
                <a:spcPct val="90000"/>
              </a:lnSpc>
            </a:pPr>
            <a:r>
              <a:rPr lang="en-US" sz="2200" dirty="0"/>
              <a:t>Team Members : Yaseen Junaid Mohammed, </a:t>
            </a:r>
            <a:r>
              <a:rPr lang="en-US" sz="2200" dirty="0" err="1"/>
              <a:t>Hardhiq</a:t>
            </a:r>
            <a:r>
              <a:rPr lang="en-US" sz="2200" dirty="0"/>
              <a:t> Choudhary</a:t>
            </a:r>
          </a:p>
          <a:p>
            <a:pPr>
              <a:lnSpc>
                <a:spcPct val="90000"/>
              </a:lnSpc>
            </a:pPr>
            <a:endParaRPr lang="en-US" sz="2200" dirty="0"/>
          </a:p>
          <a:p>
            <a:pPr>
              <a:lnSpc>
                <a:spcPct val="90000"/>
              </a:lnSpc>
            </a:pPr>
            <a:endParaRPr lang="en-US" sz="2200" dirty="0"/>
          </a:p>
        </p:txBody>
      </p:sp>
      <p:cxnSp>
        <p:nvCxnSpPr>
          <p:cNvPr id="25" name="Straight Connector 24">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47348" y="6354708"/>
            <a:ext cx="8250174"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Project Description</a:t>
            </a:r>
          </a:p>
        </p:txBody>
      </p:sp>
      <p:sp>
        <p:nvSpPr>
          <p:cNvPr id="3" name="Content Placeholder 2"/>
          <p:cNvSpPr>
            <a:spLocks noGrp="1"/>
          </p:cNvSpPr>
          <p:nvPr>
            <p:ph idx="1"/>
          </p:nvPr>
        </p:nvSpPr>
        <p:spPr>
          <a:xfrm>
            <a:off x="3607694" y="649480"/>
            <a:ext cx="4916510" cy="5546047"/>
          </a:xfrm>
        </p:spPr>
        <p:txBody>
          <a:bodyPr anchor="ctr">
            <a:normAutofit/>
          </a:bodyPr>
          <a:lstStyle/>
          <a:p>
            <a:r>
              <a:rPr lang="en-US" sz="1700">
                <a:latin typeface="Times New Roman" panose="02020603050405020304" pitchFamily="18" charset="0"/>
                <a:cs typeface="Times New Roman" panose="02020603050405020304" pitchFamily="18" charset="0"/>
              </a:rPr>
              <a:t>The Learning Management System (LMS) helps students and instructors manage courses, assignments, and communication. Students can sign in, enroll in courses, view content, and submit assignments. Instructors can grade assignments and send notifications. The system ensures secure access, organized learning, and effective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Use Case Model</a:t>
            </a:r>
          </a:p>
        </p:txBody>
      </p:sp>
      <p:pic>
        <p:nvPicPr>
          <p:cNvPr id="5" name="Content Placeholder 4" descr="A diagram of a diagram&#10;&#10;AI-generated content may be incorrect.">
            <a:extLst>
              <a:ext uri="{FF2B5EF4-FFF2-40B4-BE49-F238E27FC236}">
                <a16:creationId xmlns:a16="http://schemas.microsoft.com/office/drawing/2014/main" id="{5E9E2035-8A55-F435-FDA6-20C909A3C9D2}"/>
              </a:ext>
            </a:extLst>
          </p:cNvPr>
          <p:cNvPicPr>
            <a:picLocks noGrp="1" noChangeAspect="1"/>
          </p:cNvPicPr>
          <p:nvPr>
            <p:ph idx="1"/>
          </p:nvPr>
        </p:nvPicPr>
        <p:blipFill>
          <a:blip r:embed="rId2"/>
          <a:stretch>
            <a:fillRect/>
          </a:stretch>
        </p:blipFill>
        <p:spPr>
          <a:xfrm>
            <a:off x="482600" y="2052544"/>
            <a:ext cx="8178799" cy="36395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Sign In</a:t>
            </a:r>
          </a:p>
        </p:txBody>
      </p:sp>
      <p:pic>
        <p:nvPicPr>
          <p:cNvPr id="5" name="Content Placeholder 4" descr="A diagram of a diagram&#10;&#10;AI-generated content may be incorrect.">
            <a:extLst>
              <a:ext uri="{FF2B5EF4-FFF2-40B4-BE49-F238E27FC236}">
                <a16:creationId xmlns:a16="http://schemas.microsoft.com/office/drawing/2014/main" id="{2D5390CB-E982-1ED2-69A6-0B81F3D2A66E}"/>
              </a:ext>
            </a:extLst>
          </p:cNvPr>
          <p:cNvPicPr>
            <a:picLocks noGrp="1" noChangeAspect="1"/>
          </p:cNvPicPr>
          <p:nvPr>
            <p:ph idx="1"/>
          </p:nvPr>
        </p:nvPicPr>
        <p:blipFill>
          <a:blip r:embed="rId2"/>
          <a:stretch>
            <a:fillRect/>
          </a:stretch>
        </p:blipFill>
        <p:spPr>
          <a:xfrm>
            <a:off x="482600" y="2960437"/>
            <a:ext cx="8178799" cy="18237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Enroll in Course</a:t>
            </a:r>
          </a:p>
        </p:txBody>
      </p:sp>
      <p:pic>
        <p:nvPicPr>
          <p:cNvPr id="5" name="Content Placeholder 4" descr="A diagram of a course&#10;&#10;AI-generated content may be incorrect.">
            <a:extLst>
              <a:ext uri="{FF2B5EF4-FFF2-40B4-BE49-F238E27FC236}">
                <a16:creationId xmlns:a16="http://schemas.microsoft.com/office/drawing/2014/main" id="{02B39AC9-7B17-9388-C478-985C2DD8121E}"/>
              </a:ext>
            </a:extLst>
          </p:cNvPr>
          <p:cNvPicPr>
            <a:picLocks noGrp="1" noChangeAspect="1"/>
          </p:cNvPicPr>
          <p:nvPr>
            <p:ph idx="1"/>
          </p:nvPr>
        </p:nvPicPr>
        <p:blipFill>
          <a:blip r:embed="rId2"/>
          <a:stretch>
            <a:fillRect/>
          </a:stretch>
        </p:blipFill>
        <p:spPr>
          <a:xfrm>
            <a:off x="482600" y="2489858"/>
            <a:ext cx="8178799" cy="27649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View Course Content</a:t>
            </a:r>
          </a:p>
        </p:txBody>
      </p:sp>
      <p:pic>
        <p:nvPicPr>
          <p:cNvPr id="5" name="Content Placeholder 4" descr="A diagram of a content&#10;&#10;AI-generated content may be incorrect.">
            <a:extLst>
              <a:ext uri="{FF2B5EF4-FFF2-40B4-BE49-F238E27FC236}">
                <a16:creationId xmlns:a16="http://schemas.microsoft.com/office/drawing/2014/main" id="{A5BA8DF9-AC10-8F60-0507-0B223DA4BEDB}"/>
              </a:ext>
            </a:extLst>
          </p:cNvPr>
          <p:cNvPicPr>
            <a:picLocks noGrp="1" noChangeAspect="1"/>
          </p:cNvPicPr>
          <p:nvPr>
            <p:ph idx="1"/>
          </p:nvPr>
        </p:nvPicPr>
        <p:blipFill>
          <a:blip r:embed="rId2"/>
          <a:stretch>
            <a:fillRect/>
          </a:stretch>
        </p:blipFill>
        <p:spPr>
          <a:xfrm>
            <a:off x="482600" y="2999561"/>
            <a:ext cx="8178799" cy="17455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Submit Assignment</a:t>
            </a:r>
          </a:p>
        </p:txBody>
      </p:sp>
      <p:pic>
        <p:nvPicPr>
          <p:cNvPr id="5" name="Content Placeholder 4" descr="A diagram of a assignment&#10;&#10;AI-generated content may be incorrect.">
            <a:extLst>
              <a:ext uri="{FF2B5EF4-FFF2-40B4-BE49-F238E27FC236}">
                <a16:creationId xmlns:a16="http://schemas.microsoft.com/office/drawing/2014/main" id="{13D680DF-6726-ED42-EE8C-5473CE5EC80D}"/>
              </a:ext>
            </a:extLst>
          </p:cNvPr>
          <p:cNvPicPr>
            <a:picLocks noGrp="1" noChangeAspect="1"/>
          </p:cNvPicPr>
          <p:nvPr>
            <p:ph idx="1"/>
          </p:nvPr>
        </p:nvPicPr>
        <p:blipFill>
          <a:blip r:embed="rId2"/>
          <a:stretch>
            <a:fillRect/>
          </a:stretch>
        </p:blipFill>
        <p:spPr>
          <a:xfrm>
            <a:off x="482600" y="2941172"/>
            <a:ext cx="8178799" cy="1862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Grade Assignment</a:t>
            </a:r>
          </a:p>
        </p:txBody>
      </p:sp>
      <p:pic>
        <p:nvPicPr>
          <p:cNvPr id="6" name="Content Placeholder 5" descr="A diagram of a grade assignment&#10;&#10;AI-generated content may be incorrect.">
            <a:extLst>
              <a:ext uri="{FF2B5EF4-FFF2-40B4-BE49-F238E27FC236}">
                <a16:creationId xmlns:a16="http://schemas.microsoft.com/office/drawing/2014/main" id="{EB885D12-7A65-D8D7-C59B-E2ECE9B66767}"/>
              </a:ext>
            </a:extLst>
          </p:cNvPr>
          <p:cNvPicPr>
            <a:picLocks noGrp="1" noChangeAspect="1"/>
          </p:cNvPicPr>
          <p:nvPr>
            <p:ph idx="1"/>
          </p:nvPr>
        </p:nvPicPr>
        <p:blipFill>
          <a:blip r:embed="rId2"/>
          <a:stretch>
            <a:fillRect/>
          </a:stretch>
        </p:blipFill>
        <p:spPr>
          <a:xfrm>
            <a:off x="482600" y="2506008"/>
            <a:ext cx="8178799" cy="27326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a:solidFill>
                  <a:schemeClr val="bg1"/>
                </a:solidFill>
                <a:latin typeface="+mj-lt"/>
                <a:ea typeface="+mj-ea"/>
                <a:cs typeface="+mj-cs"/>
              </a:rPr>
              <a:t>Robustness Diagram - Send Notification</a:t>
            </a:r>
          </a:p>
        </p:txBody>
      </p:sp>
      <p:pic>
        <p:nvPicPr>
          <p:cNvPr id="5" name="Content Placeholder 4" descr="A diagram of a message&#10;&#10;AI-generated content may be incorrect.">
            <a:extLst>
              <a:ext uri="{FF2B5EF4-FFF2-40B4-BE49-F238E27FC236}">
                <a16:creationId xmlns:a16="http://schemas.microsoft.com/office/drawing/2014/main" id="{4FF014A2-2DEA-28E3-1FA3-CE0A00BC5F4A}"/>
              </a:ext>
            </a:extLst>
          </p:cNvPr>
          <p:cNvPicPr>
            <a:picLocks noGrp="1" noChangeAspect="1"/>
          </p:cNvPicPr>
          <p:nvPr>
            <p:ph idx="1"/>
          </p:nvPr>
        </p:nvPicPr>
        <p:blipFill>
          <a:blip r:embed="rId2"/>
          <a:stretch>
            <a:fillRect/>
          </a:stretch>
        </p:blipFill>
        <p:spPr>
          <a:xfrm>
            <a:off x="482600" y="2956225"/>
            <a:ext cx="8178799" cy="18322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vert="horz" lIns="91440" tIns="45720" rIns="91440" bIns="45720" rtlCol="0">
            <a:normAutofit/>
          </a:bodyPr>
          <a:lstStyle/>
          <a:p>
            <a:pPr defTabSz="914400"/>
            <a:r>
              <a:rPr lang="en-US" sz="3850" kern="1200">
                <a:latin typeface="+mj-lt"/>
                <a:ea typeface="+mj-ea"/>
                <a:cs typeface="+mj-cs"/>
              </a:rPr>
              <a:t>GitHub Repository</a:t>
            </a:r>
          </a:p>
        </p:txBody>
      </p:sp>
      <p:sp>
        <p:nvSpPr>
          <p:cNvPr id="3" name="Content Placeholder 2"/>
          <p:cNvSpPr>
            <a:spLocks noGrp="1"/>
          </p:cNvSpPr>
          <p:nvPr>
            <p:ph idx="1"/>
          </p:nvPr>
        </p:nvSpPr>
        <p:spPr>
          <a:xfrm>
            <a:off x="852321" y="2227943"/>
            <a:ext cx="5033221" cy="3788227"/>
          </a:xfrm>
        </p:spPr>
        <p:txBody>
          <a:bodyPr vert="horz" lIns="91440" tIns="45720" rIns="91440" bIns="45720" rtlCol="0" anchor="ctr">
            <a:normAutofit/>
          </a:bodyPr>
          <a:lstStyle/>
          <a:p>
            <a:pPr marL="0" indent="0" defTabSz="914400">
              <a:spcBef>
                <a:spcPts val="1000"/>
              </a:spcBef>
              <a:buNone/>
            </a:pPr>
            <a:r>
              <a:rPr lang="en-US" sz="2100" kern="1200">
                <a:latin typeface="+mn-lt"/>
                <a:ea typeface="+mn-ea"/>
                <a:cs typeface="+mn-cs"/>
                <a:hlinkClick r:id="rId2"/>
              </a:rPr>
              <a:t>https://github.com/yaseenjunaid657/CSCI_6234_Spring_2026_G19</a:t>
            </a:r>
            <a:endParaRPr lang="en-US" sz="2100" kern="1200">
              <a:latin typeface="+mn-lt"/>
              <a:ea typeface="+mn-ea"/>
              <a:cs typeface="+mn-cs"/>
            </a:endParaRPr>
          </a:p>
        </p:txBody>
      </p:sp>
      <p:sp>
        <p:nvSpPr>
          <p:cNvPr id="19" name="Rectangle 18">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Oval 20">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Database">
            <a:extLst>
              <a:ext uri="{FF2B5EF4-FFF2-40B4-BE49-F238E27FC236}">
                <a16:creationId xmlns:a16="http://schemas.microsoft.com/office/drawing/2014/main" id="{F46968C8-3C21-E5EC-2B8E-594504FFB6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4964" y="2865141"/>
            <a:ext cx="1143455" cy="11434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TotalTime>
  <Words>124</Words>
  <Application>Microsoft Macintosh PowerPoint</Application>
  <PresentationFormat>On-screen Show (4:3)</PresentationFormat>
  <Paragraphs>13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Learning Management System</vt:lpstr>
      <vt:lpstr>Project Description</vt:lpstr>
      <vt:lpstr>Use Case Model</vt:lpstr>
      <vt:lpstr>Robustness Diagram - Sign In</vt:lpstr>
      <vt:lpstr>Robustness Diagram - Enroll in Course</vt:lpstr>
      <vt:lpstr>Robustness Diagram - View Course Content</vt:lpstr>
      <vt:lpstr>Robustness Diagram - Submit Assignment</vt:lpstr>
      <vt:lpstr>Robustness Diagram - Grade Assignment</vt:lpstr>
      <vt:lpstr>Robustness Diagram - Send Notification</vt:lpstr>
      <vt:lpstr>GitHub Repository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Yaseen Junaid</cp:lastModifiedBy>
  <cp:revision>3</cp:revision>
  <dcterms:created xsi:type="dcterms:W3CDTF">2013-01-27T09:14:16Z</dcterms:created>
  <dcterms:modified xsi:type="dcterms:W3CDTF">2026-02-12T21:58:25Z</dcterms:modified>
  <cp:category/>
</cp:coreProperties>
</file>